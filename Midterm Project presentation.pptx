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
      <p:font typeface="Merriweather"/>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regular.fntdata"/><Relationship Id="rId11" Type="http://schemas.openxmlformats.org/officeDocument/2006/relationships/slide" Target="slides/slide6.xml"/><Relationship Id="rId22" Type="http://schemas.openxmlformats.org/officeDocument/2006/relationships/font" Target="fonts/Merriweather-italic.fntdata"/><Relationship Id="rId10" Type="http://schemas.openxmlformats.org/officeDocument/2006/relationships/slide" Target="slides/slide5.xml"/><Relationship Id="rId21" Type="http://schemas.openxmlformats.org/officeDocument/2006/relationships/font" Target="fonts/Merriweather-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Merriweath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7" name="Shape 67"/>
        <p:cNvGrpSpPr/>
        <p:nvPr/>
      </p:nvGrpSpPr>
      <p:grpSpPr>
        <a:xfrm>
          <a:off x="0" y="0"/>
          <a:ext cx="0" cy="0"/>
          <a:chOff x="0" y="0"/>
          <a:chExt cx="0" cy="0"/>
        </a:xfrm>
      </p:grpSpPr>
      <p:sp>
        <p:nvSpPr>
          <p:cNvPr id="68" name="Google Shape;68;g8b0c5ffa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8b0c5ffa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chose to do a tidy tuesday presentation on the trans-Atlantic slave trade because history books have taught us one thing but the numbers could tell us other pieces of information that may be hidden. This graphic displays the number of slaves per time period in a histogram-like format..(then go into what x-axis, y-axis, design elements)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3" name="Shape 73"/>
        <p:cNvGrpSpPr/>
        <p:nvPr/>
      </p:nvGrpSpPr>
      <p:grpSpPr>
        <a:xfrm>
          <a:off x="0" y="0"/>
          <a:ext cx="0" cy="0"/>
          <a:chOff x="0" y="0"/>
          <a:chExt cx="0" cy="0"/>
        </a:xfrm>
      </p:grpSpPr>
      <p:sp>
        <p:nvSpPr>
          <p:cNvPr id="74" name="Google Shape;74;g8b0c5ffa8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8b0c5ffa8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 name="Shape 79"/>
        <p:cNvGrpSpPr/>
        <p:nvPr/>
      </p:nvGrpSpPr>
      <p:grpSpPr>
        <a:xfrm>
          <a:off x="0" y="0"/>
          <a:ext cx="0" cy="0"/>
          <a:chOff x="0" y="0"/>
          <a:chExt cx="0" cy="0"/>
        </a:xfrm>
      </p:grpSpPr>
      <p:sp>
        <p:nvSpPr>
          <p:cNvPr id="80" name="Google Shape;80;g8aebc450ff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8aebc450ff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g8aebc450ff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8aebc450ff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 name="Shape 93"/>
        <p:cNvGrpSpPr/>
        <p:nvPr/>
      </p:nvGrpSpPr>
      <p:grpSpPr>
        <a:xfrm>
          <a:off x="0" y="0"/>
          <a:ext cx="0" cy="0"/>
          <a:chOff x="0" y="0"/>
          <a:chExt cx="0" cy="0"/>
        </a:xfrm>
      </p:grpSpPr>
      <p:sp>
        <p:nvSpPr>
          <p:cNvPr id="94" name="Google Shape;94;g8aebc450ff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8aebc450ff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3C4043"/>
                </a:solidFill>
                <a:highlight>
                  <a:srgbClr val="FFFFFF"/>
                </a:highlight>
                <a:latin typeface="Roboto"/>
                <a:ea typeface="Roboto"/>
                <a:cs typeface="Roboto"/>
                <a:sym typeface="Roboto"/>
              </a:rPr>
              <a:t>The visualization did not scale well - When you change the viewing window, the text overlaps the actual plot. (this does not work well with flexdashboard layouts)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 name="Shape 100"/>
        <p:cNvGrpSpPr/>
        <p:nvPr/>
      </p:nvGrpSpPr>
      <p:grpSpPr>
        <a:xfrm>
          <a:off x="0" y="0"/>
          <a:ext cx="0" cy="0"/>
          <a:chOff x="0" y="0"/>
          <a:chExt cx="0" cy="0"/>
        </a:xfrm>
      </p:grpSpPr>
      <p:sp>
        <p:nvSpPr>
          <p:cNvPr id="101" name="Google Shape;101;g8aebc450ff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8aebc450ff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 name="Shape 107"/>
        <p:cNvGrpSpPr/>
        <p:nvPr/>
      </p:nvGrpSpPr>
      <p:grpSpPr>
        <a:xfrm>
          <a:off x="0" y="0"/>
          <a:ext cx="0" cy="0"/>
          <a:chOff x="0" y="0"/>
          <a:chExt cx="0" cy="0"/>
        </a:xfrm>
      </p:grpSpPr>
      <p:sp>
        <p:nvSpPr>
          <p:cNvPr id="108" name="Google Shape;108;g8b0c5ffa8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8b0c5ffa8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g8aebc450ff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8aebc450ff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flexdashboard for the layout, and we want to use shiny for the interactivity, like clicking, zooming, and hovering.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0" name="Shape 120"/>
        <p:cNvGrpSpPr/>
        <p:nvPr/>
      </p:nvGrpSpPr>
      <p:grpSpPr>
        <a:xfrm>
          <a:off x="0" y="0"/>
          <a:ext cx="0" cy="0"/>
          <a:chOff x="0" y="0"/>
          <a:chExt cx="0" cy="0"/>
        </a:xfrm>
      </p:grpSpPr>
      <p:sp>
        <p:nvSpPr>
          <p:cNvPr id="121" name="Google Shape;121;g8b0c5ffa8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8b0c5ffa8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twitter.com/geokaramanis/status/1273663628315680772"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github.com/gkaramanis/tidytuesday/tree/master/2020-week25"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Trans-Atlantic Slave Trade</a:t>
            </a:r>
            <a:endParaRPr/>
          </a:p>
          <a:p>
            <a:pPr indent="0" lvl="0" marL="0" rtl="0" algn="l">
              <a:spcBef>
                <a:spcPts val="0"/>
              </a:spcBef>
              <a:spcAft>
                <a:spcPts val="0"/>
              </a:spcAft>
              <a:buNone/>
            </a:pPr>
            <a:r>
              <a:rPr lang="en" sz="2200"/>
              <a:t>African-American History (06/16/20)</a:t>
            </a:r>
            <a:endParaRPr sz="2200"/>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Haricesh Ratnaharan and Rohan Mutalik</a:t>
            </a:r>
            <a:endParaRPr/>
          </a:p>
        </p:txBody>
      </p:sp>
      <p:sp>
        <p:nvSpPr>
          <p:cNvPr id="66" name="Google Shape;66;p13"/>
          <p:cNvSpPr txBox="1"/>
          <p:nvPr>
            <p:ph idx="1" type="subTitle"/>
          </p:nvPr>
        </p:nvSpPr>
        <p:spPr>
          <a:xfrm>
            <a:off x="4291500" y="3803647"/>
            <a:ext cx="4242600" cy="936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1" lang="en" sz="1800"/>
              <a:t>Midterm Project Presentation</a:t>
            </a:r>
            <a:endParaRPr b="1" sz="1800"/>
          </a:p>
          <a:p>
            <a:pPr indent="0" lvl="0" marL="0" rtl="0" algn="r">
              <a:spcBef>
                <a:spcPts val="0"/>
              </a:spcBef>
              <a:spcAft>
                <a:spcPts val="0"/>
              </a:spcAft>
              <a:buNone/>
            </a:pPr>
            <a:r>
              <a:rPr b="1" lang="en" sz="1800"/>
              <a:t>DSBA 5122</a:t>
            </a:r>
            <a:endParaRPr b="1"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00" y="124875"/>
            <a:ext cx="8520600" cy="104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#TidyTuesday Dataset: Trans-Atlantic Slave Trade</a:t>
            </a:r>
            <a:endParaRPr sz="2200"/>
          </a:p>
          <a:p>
            <a:pPr indent="0" lvl="0" marL="0" rtl="0" algn="ctr">
              <a:spcBef>
                <a:spcPts val="0"/>
              </a:spcBef>
              <a:spcAft>
                <a:spcPts val="0"/>
              </a:spcAft>
              <a:buNone/>
            </a:pPr>
            <a:r>
              <a:rPr lang="en" sz="1600">
                <a:solidFill>
                  <a:srgbClr val="4A86E8"/>
                </a:solidFill>
              </a:rPr>
              <a:t>Georgios Karamanis @geokaramanis</a:t>
            </a:r>
            <a:br>
              <a:rPr lang="en" sz="2200">
                <a:solidFill>
                  <a:srgbClr val="4A86E8"/>
                </a:solidFill>
              </a:rPr>
            </a:br>
            <a:r>
              <a:rPr lang="en" sz="1600" u="sng">
                <a:solidFill>
                  <a:srgbClr val="4A86E8"/>
                </a:solidFill>
                <a:latin typeface="Arial"/>
                <a:ea typeface="Arial"/>
                <a:cs typeface="Arial"/>
                <a:sym typeface="Arial"/>
                <a:hlinkClick r:id="rId3"/>
              </a:rPr>
              <a:t>https://twitter.com/geokaramanis/status/1273663628315680772</a:t>
            </a:r>
            <a:endParaRPr sz="2700">
              <a:solidFill>
                <a:srgbClr val="4A86E8"/>
              </a:solidFill>
            </a:endParaRPr>
          </a:p>
        </p:txBody>
      </p:sp>
      <p:pic>
        <p:nvPicPr>
          <p:cNvPr id="72" name="Google Shape;72;p14"/>
          <p:cNvPicPr preferRelativeResize="0"/>
          <p:nvPr/>
        </p:nvPicPr>
        <p:blipFill>
          <a:blip r:embed="rId4">
            <a:alphaModFix/>
          </a:blip>
          <a:stretch>
            <a:fillRect/>
          </a:stretch>
        </p:blipFill>
        <p:spPr>
          <a:xfrm>
            <a:off x="1120038" y="1357600"/>
            <a:ext cx="6903973" cy="371407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6" name="Shape 76"/>
        <p:cNvGrpSpPr/>
        <p:nvPr/>
      </p:nvGrpSpPr>
      <p:grpSpPr>
        <a:xfrm>
          <a:off x="0" y="0"/>
          <a:ext cx="0" cy="0"/>
          <a:chOff x="0" y="0"/>
          <a:chExt cx="0" cy="0"/>
        </a:xfrm>
      </p:grpSpPr>
      <p:sp>
        <p:nvSpPr>
          <p:cNvPr id="77" name="Google Shape;77;p15"/>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slavery.R file</a:t>
            </a:r>
            <a:br>
              <a:rPr lang="en"/>
            </a:br>
            <a:r>
              <a:rPr lang="en" sz="1100" u="sng">
                <a:solidFill>
                  <a:srgbClr val="4A86E8"/>
                </a:solidFill>
                <a:latin typeface="Arial"/>
                <a:ea typeface="Arial"/>
                <a:cs typeface="Arial"/>
                <a:sym typeface="Arial"/>
                <a:hlinkClick r:id="rId3"/>
              </a:rPr>
              <a:t>https://github.com/gkaramanis/tidytuesday/tree/master/2020-week25</a:t>
            </a:r>
            <a:endParaRPr>
              <a:solidFill>
                <a:srgbClr val="4A86E8"/>
              </a:solidFill>
            </a:endParaRPr>
          </a:p>
        </p:txBody>
      </p:sp>
      <p:pic>
        <p:nvPicPr>
          <p:cNvPr id="78" name="Google Shape;78;p15"/>
          <p:cNvPicPr preferRelativeResize="0"/>
          <p:nvPr/>
        </p:nvPicPr>
        <p:blipFill>
          <a:blip r:embed="rId4">
            <a:alphaModFix/>
          </a:blip>
          <a:stretch>
            <a:fillRect/>
          </a:stretch>
        </p:blipFill>
        <p:spPr>
          <a:xfrm>
            <a:off x="249475" y="106350"/>
            <a:ext cx="8645054" cy="4216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Overview</a:t>
            </a:r>
            <a:endParaRPr/>
          </a:p>
        </p:txBody>
      </p:sp>
      <p:sp>
        <p:nvSpPr>
          <p:cNvPr id="84" name="Google Shape;84;p16"/>
          <p:cNvSpPr txBox="1"/>
          <p:nvPr>
            <p:ph idx="1" type="body"/>
          </p:nvPr>
        </p:nvSpPr>
        <p:spPr>
          <a:xfrm>
            <a:off x="4644675" y="500925"/>
            <a:ext cx="4166400" cy="40986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“Slave Routes dataset shows number of slaves transported by decade (36k total records)</a:t>
            </a:r>
            <a:endParaRPr/>
          </a:p>
          <a:p>
            <a:pPr indent="-311150" lvl="0" marL="457200" rtl="0" algn="l">
              <a:lnSpc>
                <a:spcPct val="115000"/>
              </a:lnSpc>
              <a:spcBef>
                <a:spcPts val="1000"/>
              </a:spcBef>
              <a:spcAft>
                <a:spcPts val="0"/>
              </a:spcAft>
              <a:buSzPts val="1300"/>
              <a:buChar char="●"/>
            </a:pPr>
            <a:r>
              <a:rPr lang="en"/>
              <a:t>Columns include: </a:t>
            </a:r>
            <a:br>
              <a:rPr lang="en"/>
            </a:br>
            <a:r>
              <a:rPr lang="en"/>
              <a:t>Voyage ID (num), Ship Name (chr) , Port of Origin</a:t>
            </a:r>
            <a:r>
              <a:rPr lang="en"/>
              <a:t> (chr)</a:t>
            </a:r>
            <a:r>
              <a:rPr lang="en"/>
              <a:t>, Place of Purchase</a:t>
            </a:r>
            <a:r>
              <a:rPr lang="en"/>
              <a:t> (chr)</a:t>
            </a:r>
            <a:r>
              <a:rPr lang="en"/>
              <a:t>, Port of Arrival</a:t>
            </a:r>
            <a:r>
              <a:rPr lang="en"/>
              <a:t> (chr)</a:t>
            </a:r>
            <a:r>
              <a:rPr lang="en"/>
              <a:t>, Year of Arrival</a:t>
            </a:r>
            <a:r>
              <a:rPr lang="en"/>
              <a:t> (num)</a:t>
            </a:r>
            <a:r>
              <a:rPr lang="en"/>
              <a:t>, Number of Slaves that Arrived</a:t>
            </a:r>
            <a:r>
              <a:rPr lang="en"/>
              <a:t> (num)</a:t>
            </a:r>
            <a:r>
              <a:rPr lang="en"/>
              <a:t>, Captain’s Name</a:t>
            </a:r>
            <a:r>
              <a:rPr lang="en"/>
              <a:t> (chr)</a:t>
            </a:r>
            <a:endParaRPr/>
          </a:p>
          <a:p>
            <a:pPr indent="0" lvl="0" marL="0" rtl="0" algn="l">
              <a:lnSpc>
                <a:spcPct val="115000"/>
              </a:lnSpc>
              <a:spcBef>
                <a:spcPts val="1000"/>
              </a:spcBef>
              <a:spcAft>
                <a:spcPts val="0"/>
              </a:spcAft>
              <a:buNone/>
            </a:pPr>
            <a:r>
              <a:t/>
            </a:r>
            <a:endParaRPr/>
          </a:p>
          <a:p>
            <a:pPr indent="0" lvl="0" marL="0" rtl="0" algn="l">
              <a:lnSpc>
                <a:spcPct val="115000"/>
              </a:lnSpc>
              <a:spcBef>
                <a:spcPts val="1000"/>
              </a:spcBef>
              <a:spcAft>
                <a:spcPts val="1000"/>
              </a:spcAft>
              <a:buNone/>
            </a:pPr>
            <a:r>
              <a:t/>
            </a:r>
            <a:endParaRPr/>
          </a:p>
        </p:txBody>
      </p:sp>
      <p:pic>
        <p:nvPicPr>
          <p:cNvPr id="85" name="Google Shape;85;p16"/>
          <p:cNvPicPr preferRelativeResize="0"/>
          <p:nvPr/>
        </p:nvPicPr>
        <p:blipFill>
          <a:blip r:embed="rId3">
            <a:alphaModFix/>
          </a:blip>
          <a:stretch>
            <a:fillRect/>
          </a:stretch>
        </p:blipFill>
        <p:spPr>
          <a:xfrm>
            <a:off x="81770" y="2814750"/>
            <a:ext cx="4166400" cy="22413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Critique</a:t>
            </a:r>
            <a:endParaRPr/>
          </a:p>
        </p:txBody>
      </p:sp>
      <p:sp>
        <p:nvSpPr>
          <p:cNvPr id="91" name="Google Shape;91;p17"/>
          <p:cNvSpPr txBox="1"/>
          <p:nvPr>
            <p:ph idx="1" type="body"/>
          </p:nvPr>
        </p:nvSpPr>
        <p:spPr>
          <a:xfrm>
            <a:off x="4644675" y="500925"/>
            <a:ext cx="4166400" cy="43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Good Design Aspects</a:t>
            </a:r>
            <a:endParaRPr b="1"/>
          </a:p>
          <a:p>
            <a:pPr indent="-311150" lvl="0" marL="457200" rtl="0" algn="l">
              <a:lnSpc>
                <a:spcPct val="200000"/>
              </a:lnSpc>
              <a:spcBef>
                <a:spcPts val="1600"/>
              </a:spcBef>
              <a:spcAft>
                <a:spcPts val="0"/>
              </a:spcAft>
              <a:buSzPts val="1300"/>
              <a:buChar char="●"/>
            </a:pPr>
            <a:r>
              <a:rPr lang="en"/>
              <a:t>Clear data distribution</a:t>
            </a:r>
            <a:endParaRPr/>
          </a:p>
          <a:p>
            <a:pPr indent="-311150" lvl="0" marL="457200" rtl="0" algn="l">
              <a:lnSpc>
                <a:spcPct val="200000"/>
              </a:lnSpc>
              <a:spcBef>
                <a:spcPts val="0"/>
              </a:spcBef>
              <a:spcAft>
                <a:spcPts val="0"/>
              </a:spcAft>
              <a:buSzPts val="1300"/>
              <a:buChar char="●"/>
            </a:pPr>
            <a:r>
              <a:rPr lang="en"/>
              <a:t>Clean background</a:t>
            </a:r>
            <a:endParaRPr/>
          </a:p>
          <a:p>
            <a:pPr indent="-311150" lvl="0" marL="457200" rtl="0" algn="l">
              <a:lnSpc>
                <a:spcPct val="200000"/>
              </a:lnSpc>
              <a:spcBef>
                <a:spcPts val="0"/>
              </a:spcBef>
              <a:spcAft>
                <a:spcPts val="0"/>
              </a:spcAft>
              <a:buSzPts val="1300"/>
              <a:buChar char="●"/>
            </a:pPr>
            <a:r>
              <a:rPr lang="en"/>
              <a:t>Data is scaled properly</a:t>
            </a:r>
            <a:endParaRPr/>
          </a:p>
          <a:p>
            <a:pPr indent="-311150" lvl="0" marL="457200" rtl="0" algn="l">
              <a:lnSpc>
                <a:spcPct val="200000"/>
              </a:lnSpc>
              <a:spcBef>
                <a:spcPts val="0"/>
              </a:spcBef>
              <a:spcAft>
                <a:spcPts val="0"/>
              </a:spcAft>
              <a:buSzPts val="1300"/>
              <a:buChar char="●"/>
            </a:pPr>
            <a:r>
              <a:rPr lang="en"/>
              <a:t>Heading description establishes context </a:t>
            </a:r>
            <a:endParaRPr/>
          </a:p>
          <a:p>
            <a:pPr indent="-311150" lvl="0" marL="457200" rtl="0" algn="l">
              <a:lnSpc>
                <a:spcPct val="200000"/>
              </a:lnSpc>
              <a:spcBef>
                <a:spcPts val="0"/>
              </a:spcBef>
              <a:spcAft>
                <a:spcPts val="0"/>
              </a:spcAft>
              <a:buSzPts val="1300"/>
              <a:buChar char="●"/>
            </a:pPr>
            <a:r>
              <a:rPr lang="en"/>
              <a:t>Chain</a:t>
            </a:r>
            <a:r>
              <a:rPr lang="en"/>
              <a:t> graphic </a:t>
            </a:r>
            <a:r>
              <a:rPr lang="en"/>
              <a:t>represent</a:t>
            </a:r>
            <a:r>
              <a:rPr lang="en"/>
              <a:t>s</a:t>
            </a:r>
            <a:r>
              <a:rPr lang="en"/>
              <a:t> trans-Atlantic slaves</a:t>
            </a:r>
            <a:endParaRPr/>
          </a:p>
          <a:p>
            <a:pPr indent="-311150" lvl="0" marL="457200" rtl="0" algn="l">
              <a:lnSpc>
                <a:spcPct val="115000"/>
              </a:lnSpc>
              <a:spcBef>
                <a:spcPts val="0"/>
              </a:spcBef>
              <a:spcAft>
                <a:spcPts val="0"/>
              </a:spcAft>
              <a:buSzPts val="1300"/>
              <a:buChar char="●"/>
            </a:pPr>
            <a:r>
              <a:rPr lang="en"/>
              <a:t>Color scheme is appropriate; r</a:t>
            </a:r>
            <a:r>
              <a:rPr lang="en"/>
              <a:t>ed, white colors are good contrasting colors</a:t>
            </a:r>
            <a:endParaRPr/>
          </a:p>
          <a:p>
            <a:pPr indent="0" lvl="0" marL="45720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y-axis values increasing downwards - Can symbolize chains hanging down</a:t>
            </a:r>
            <a:endParaRPr/>
          </a:p>
        </p:txBody>
      </p:sp>
      <p:pic>
        <p:nvPicPr>
          <p:cNvPr id="92" name="Google Shape;92;p17"/>
          <p:cNvPicPr preferRelativeResize="0"/>
          <p:nvPr/>
        </p:nvPicPr>
        <p:blipFill>
          <a:blip r:embed="rId3">
            <a:alphaModFix/>
          </a:blip>
          <a:stretch>
            <a:fillRect/>
          </a:stretch>
        </p:blipFill>
        <p:spPr>
          <a:xfrm>
            <a:off x="81770" y="2828150"/>
            <a:ext cx="4166400" cy="224137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Critique cont’d</a:t>
            </a:r>
            <a:endParaRPr/>
          </a:p>
        </p:txBody>
      </p:sp>
      <p:sp>
        <p:nvSpPr>
          <p:cNvPr id="98" name="Google Shape;98;p18"/>
          <p:cNvSpPr txBox="1"/>
          <p:nvPr>
            <p:ph idx="1" type="body"/>
          </p:nvPr>
        </p:nvSpPr>
        <p:spPr>
          <a:xfrm>
            <a:off x="4644675" y="500925"/>
            <a:ext cx="4166400" cy="40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Possible Improvements</a:t>
            </a:r>
            <a:endParaRPr/>
          </a:p>
          <a:p>
            <a:pPr indent="-311150" lvl="0" marL="457200" rtl="0" algn="l">
              <a:lnSpc>
                <a:spcPct val="200000"/>
              </a:lnSpc>
              <a:spcBef>
                <a:spcPts val="1600"/>
              </a:spcBef>
              <a:spcAft>
                <a:spcPts val="0"/>
              </a:spcAft>
              <a:buSzPts val="1300"/>
              <a:buChar char="●"/>
            </a:pPr>
            <a:r>
              <a:rPr lang="en"/>
              <a:t>The visualization did not scale well</a:t>
            </a:r>
            <a:endParaRPr/>
          </a:p>
          <a:p>
            <a:pPr indent="-311150" lvl="0" marL="457200" rtl="0" algn="l">
              <a:lnSpc>
                <a:spcPct val="115000"/>
              </a:lnSpc>
              <a:spcBef>
                <a:spcPts val="1000"/>
              </a:spcBef>
              <a:spcAft>
                <a:spcPts val="0"/>
              </a:spcAft>
              <a:buSzPts val="1300"/>
              <a:buChar char="●"/>
            </a:pPr>
            <a:r>
              <a:rPr lang="en"/>
              <a:t>Add ports of origin and of destination and use world map as backdrop </a:t>
            </a:r>
            <a:endParaRPr/>
          </a:p>
          <a:p>
            <a:pPr indent="-311150" lvl="0" marL="457200" rtl="0" algn="l">
              <a:lnSpc>
                <a:spcPct val="115000"/>
              </a:lnSpc>
              <a:spcBef>
                <a:spcPts val="1000"/>
              </a:spcBef>
              <a:spcAft>
                <a:spcPts val="0"/>
              </a:spcAft>
              <a:buSzPts val="1300"/>
              <a:buChar char="●"/>
            </a:pPr>
            <a:r>
              <a:rPr lang="en"/>
              <a:t>Hover over a chain to find number of slaves transported along a route</a:t>
            </a:r>
            <a:endParaRPr/>
          </a:p>
          <a:p>
            <a:pPr indent="-311150" lvl="0" marL="457200" rtl="0" algn="l">
              <a:lnSpc>
                <a:spcPct val="200000"/>
              </a:lnSpc>
              <a:spcBef>
                <a:spcPts val="1000"/>
              </a:spcBef>
              <a:spcAft>
                <a:spcPts val="0"/>
              </a:spcAft>
              <a:buSzPts val="1300"/>
              <a:buChar char="●"/>
            </a:pPr>
            <a:r>
              <a:rPr lang="en"/>
              <a:t>Show plots faceted by region</a:t>
            </a:r>
            <a:endParaRPr/>
          </a:p>
          <a:p>
            <a:pPr indent="-311150" lvl="0" marL="457200" rtl="0" algn="l">
              <a:lnSpc>
                <a:spcPct val="115000"/>
              </a:lnSpc>
              <a:spcBef>
                <a:spcPts val="1200"/>
              </a:spcBef>
              <a:spcAft>
                <a:spcPts val="0"/>
              </a:spcAft>
              <a:buSzPts val="1300"/>
              <a:buChar char="●"/>
            </a:pPr>
            <a:r>
              <a:rPr lang="en"/>
              <a:t>Cumulative summaries can help understand scale of trans-Atlantic slavery</a:t>
            </a:r>
            <a:endParaRPr/>
          </a:p>
          <a:p>
            <a:pPr indent="0" lvl="0" marL="0" rtl="0" algn="l">
              <a:spcBef>
                <a:spcPts val="1000"/>
              </a:spcBef>
              <a:spcAft>
                <a:spcPts val="1600"/>
              </a:spcAft>
              <a:buNone/>
            </a:pPr>
            <a:r>
              <a:t/>
            </a:r>
            <a:endParaRPr/>
          </a:p>
        </p:txBody>
      </p:sp>
      <p:pic>
        <p:nvPicPr>
          <p:cNvPr id="99" name="Google Shape;99;p18"/>
          <p:cNvPicPr preferRelativeResize="0"/>
          <p:nvPr/>
        </p:nvPicPr>
        <p:blipFill>
          <a:blip r:embed="rId3">
            <a:alphaModFix/>
          </a:blip>
          <a:stretch>
            <a:fillRect/>
          </a:stretch>
        </p:blipFill>
        <p:spPr>
          <a:xfrm>
            <a:off x="81770" y="2828150"/>
            <a:ext cx="4166400" cy="224137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Critique cont’d</a:t>
            </a:r>
            <a:endParaRPr/>
          </a:p>
        </p:txBody>
      </p:sp>
      <p:sp>
        <p:nvSpPr>
          <p:cNvPr id="105" name="Google Shape;105;p19"/>
          <p:cNvSpPr txBox="1"/>
          <p:nvPr>
            <p:ph idx="1" type="body"/>
          </p:nvPr>
        </p:nvSpPr>
        <p:spPr>
          <a:xfrm>
            <a:off x="4644675" y="500925"/>
            <a:ext cx="4166400" cy="40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Questions about the Code</a:t>
            </a:r>
            <a:endParaRPr b="1"/>
          </a:p>
          <a:p>
            <a:pPr indent="-311150" lvl="0" marL="457200" rtl="0" algn="l">
              <a:spcBef>
                <a:spcPts val="1600"/>
              </a:spcBef>
              <a:spcAft>
                <a:spcPts val="0"/>
              </a:spcAft>
              <a:buSzPts val="1300"/>
              <a:buChar char="●"/>
            </a:pPr>
            <a:r>
              <a:rPr lang="en"/>
              <a:t>It is not clear what ‘link_y’ variable in decade_routes represents. What does that represent?</a:t>
            </a:r>
            <a:endParaRPr/>
          </a:p>
          <a:p>
            <a:pPr indent="-311150" lvl="0" marL="457200" rtl="0" algn="l">
              <a:spcBef>
                <a:spcPts val="1200"/>
              </a:spcBef>
              <a:spcAft>
                <a:spcPts val="0"/>
              </a:spcAft>
              <a:buSzPts val="1300"/>
              <a:buChar char="●"/>
            </a:pPr>
            <a:r>
              <a:rPr lang="en"/>
              <a:t>Why use shadows for the I links, if they are not even visible?</a:t>
            </a:r>
            <a:endParaRPr/>
          </a:p>
          <a:p>
            <a:pPr indent="0" lvl="0" marL="0" rtl="0" algn="l">
              <a:spcBef>
                <a:spcPts val="1000"/>
              </a:spcBef>
              <a:spcAft>
                <a:spcPts val="0"/>
              </a:spcAft>
              <a:buNone/>
            </a:pPr>
            <a:r>
              <a:t/>
            </a:r>
            <a:endParaRPr/>
          </a:p>
          <a:p>
            <a:pPr indent="0" lvl="0" marL="0" rtl="0" algn="l">
              <a:spcBef>
                <a:spcPts val="1600"/>
              </a:spcBef>
              <a:spcAft>
                <a:spcPts val="0"/>
              </a:spcAft>
              <a:buNone/>
            </a:pPr>
            <a:r>
              <a:rPr b="1" lang="en"/>
              <a:t>Good Visualization Principles</a:t>
            </a:r>
            <a:endParaRPr b="1"/>
          </a:p>
          <a:p>
            <a:pPr indent="-311150" lvl="0" marL="457200" rtl="0" algn="l">
              <a:spcBef>
                <a:spcPts val="1600"/>
              </a:spcBef>
              <a:spcAft>
                <a:spcPts val="0"/>
              </a:spcAft>
              <a:buSzPts val="1300"/>
              <a:buChar char="●"/>
            </a:pPr>
            <a:r>
              <a:rPr lang="en"/>
              <a:t>Including annotations gave more information about the plot, as cited in Healy Section 5.5</a:t>
            </a:r>
            <a:endParaRPr/>
          </a:p>
          <a:p>
            <a:pPr indent="0" lvl="0" marL="0" rtl="0" algn="l">
              <a:spcBef>
                <a:spcPts val="0"/>
              </a:spcBef>
              <a:spcAft>
                <a:spcPts val="1600"/>
              </a:spcAft>
              <a:buNone/>
            </a:pPr>
            <a:r>
              <a:t/>
            </a:r>
            <a:endParaRPr/>
          </a:p>
        </p:txBody>
      </p:sp>
      <p:pic>
        <p:nvPicPr>
          <p:cNvPr id="106" name="Google Shape;106;p19"/>
          <p:cNvPicPr preferRelativeResize="0"/>
          <p:nvPr/>
        </p:nvPicPr>
        <p:blipFill>
          <a:blip r:embed="rId3">
            <a:alphaModFix/>
          </a:blip>
          <a:stretch>
            <a:fillRect/>
          </a:stretch>
        </p:blipFill>
        <p:spPr>
          <a:xfrm>
            <a:off x="81770" y="2828150"/>
            <a:ext cx="4166400" cy="22413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a:t>
            </a:r>
            <a:endParaRPr/>
          </a:p>
        </p:txBody>
      </p:sp>
      <p:sp>
        <p:nvSpPr>
          <p:cNvPr id="112" name="Google Shape;112;p20"/>
          <p:cNvSpPr txBox="1"/>
          <p:nvPr>
            <p:ph idx="1" type="body"/>
          </p:nvPr>
        </p:nvSpPr>
        <p:spPr>
          <a:xfrm>
            <a:off x="4572000" y="125875"/>
            <a:ext cx="4166400" cy="48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Tasks</a:t>
            </a:r>
            <a:endParaRPr b="1"/>
          </a:p>
          <a:p>
            <a:pPr indent="-311150" lvl="0" marL="457200" rtl="0" algn="l">
              <a:spcBef>
                <a:spcPts val="1600"/>
              </a:spcBef>
              <a:spcAft>
                <a:spcPts val="0"/>
              </a:spcAft>
              <a:buSzPts val="1300"/>
              <a:buChar char="●"/>
            </a:pPr>
            <a:r>
              <a:rPr lang="en"/>
              <a:t>Click on chain link on world map to show chain link zoomed in, highlighted in red in plot below</a:t>
            </a:r>
            <a:endParaRPr/>
          </a:p>
          <a:p>
            <a:pPr indent="-311150" lvl="0" marL="457200" rtl="0" algn="l">
              <a:spcBef>
                <a:spcPts val="1000"/>
              </a:spcBef>
              <a:spcAft>
                <a:spcPts val="0"/>
              </a:spcAft>
              <a:buSzPts val="1300"/>
              <a:buChar char="●"/>
            </a:pPr>
            <a:r>
              <a:rPr lang="en"/>
              <a:t>The tabs on the left describe the information on that chain link; can filter by decade </a:t>
            </a:r>
            <a:endParaRPr/>
          </a:p>
          <a:p>
            <a:pPr indent="-311150" lvl="0" marL="457200" rtl="0" algn="l">
              <a:spcBef>
                <a:spcPts val="1000"/>
              </a:spcBef>
              <a:spcAft>
                <a:spcPts val="0"/>
              </a:spcAft>
              <a:buSzPts val="1300"/>
              <a:buChar char="●"/>
            </a:pPr>
            <a:r>
              <a:rPr lang="en"/>
              <a:t>Click on decade to zoom in and see number of slaves per individual year</a:t>
            </a:r>
            <a:endParaRPr/>
          </a:p>
          <a:p>
            <a:pPr indent="-311150" lvl="0" marL="457200" rtl="0" algn="l">
              <a:spcBef>
                <a:spcPts val="1000"/>
              </a:spcBef>
              <a:spcAft>
                <a:spcPts val="0"/>
              </a:spcAft>
              <a:buSzPts val="1300"/>
              <a:buChar char="●"/>
            </a:pPr>
            <a:r>
              <a:rPr lang="en"/>
              <a:t>Double click on chain link to see number of slaves faceted by region</a:t>
            </a:r>
            <a:endParaRPr/>
          </a:p>
          <a:p>
            <a:pPr indent="-311150" lvl="0" marL="457200" rtl="0" algn="l">
              <a:spcBef>
                <a:spcPts val="1000"/>
              </a:spcBef>
              <a:spcAft>
                <a:spcPts val="0"/>
              </a:spcAft>
              <a:buSzPts val="1300"/>
              <a:buChar char="●"/>
            </a:pPr>
            <a:r>
              <a:rPr lang="en"/>
              <a:t>Hover over chain link to see cumulative summary up to that chain link</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User Instructions</a:t>
            </a:r>
            <a:endParaRPr b="1"/>
          </a:p>
          <a:p>
            <a:pPr indent="-311150" lvl="0" marL="457200" rtl="0" algn="l">
              <a:spcBef>
                <a:spcPts val="1600"/>
              </a:spcBef>
              <a:spcAft>
                <a:spcPts val="1000"/>
              </a:spcAft>
              <a:buSzPts val="1300"/>
              <a:buChar char="●"/>
            </a:pPr>
            <a:r>
              <a:rPr lang="en"/>
              <a:t>Legend guide that explains the tasks, or shows tooltip of tasks when hovered over.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21"/>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Tabs in sidebar will contain different pieces of information regarding the slave trade</a:t>
            </a:r>
            <a:endParaRPr/>
          </a:p>
        </p:txBody>
      </p:sp>
      <p:pic>
        <p:nvPicPr>
          <p:cNvPr id="118" name="Google Shape;118;p21"/>
          <p:cNvPicPr preferRelativeResize="0"/>
          <p:nvPr/>
        </p:nvPicPr>
        <p:blipFill>
          <a:blip r:embed="rId3">
            <a:alphaModFix/>
          </a:blip>
          <a:stretch>
            <a:fillRect/>
          </a:stretch>
        </p:blipFill>
        <p:spPr>
          <a:xfrm>
            <a:off x="3738838" y="0"/>
            <a:ext cx="5405172" cy="4216600"/>
          </a:xfrm>
          <a:prstGeom prst="rect">
            <a:avLst/>
          </a:prstGeom>
          <a:noFill/>
          <a:ln>
            <a:noFill/>
          </a:ln>
        </p:spPr>
      </p:pic>
      <p:pic>
        <p:nvPicPr>
          <p:cNvPr id="119" name="Google Shape;119;p21"/>
          <p:cNvPicPr preferRelativeResize="0"/>
          <p:nvPr/>
        </p:nvPicPr>
        <p:blipFill>
          <a:blip r:embed="rId4">
            <a:alphaModFix/>
          </a:blip>
          <a:stretch>
            <a:fillRect/>
          </a:stretch>
        </p:blipFill>
        <p:spPr>
          <a:xfrm>
            <a:off x="184550" y="1114888"/>
            <a:ext cx="3434038" cy="198683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 name="Shape 123"/>
        <p:cNvGrpSpPr/>
        <p:nvPr/>
      </p:nvGrpSpPr>
      <p:grpSpPr>
        <a:xfrm>
          <a:off x="0" y="0"/>
          <a:ext cx="0" cy="0"/>
          <a:chOff x="0" y="0"/>
          <a:chExt cx="0" cy="0"/>
        </a:xfrm>
      </p:grpSpPr>
      <p:sp>
        <p:nvSpPr>
          <p:cNvPr id="124" name="Google Shape;124;p22"/>
          <p:cNvSpPr txBox="1"/>
          <p:nvPr/>
        </p:nvSpPr>
        <p:spPr>
          <a:xfrm>
            <a:off x="3185700" y="2015850"/>
            <a:ext cx="2772600" cy="111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latin typeface="Roboto"/>
                <a:ea typeface="Roboto"/>
                <a:cs typeface="Roboto"/>
                <a:sym typeface="Roboto"/>
              </a:rPr>
              <a:t>Thank you! </a:t>
            </a:r>
            <a:endParaRPr sz="3000">
              <a:latin typeface="Roboto"/>
              <a:ea typeface="Roboto"/>
              <a:cs typeface="Roboto"/>
              <a:sym typeface="Roboto"/>
            </a:endParaRPr>
          </a:p>
          <a:p>
            <a:pPr indent="0" lvl="0" marL="0" rtl="0" algn="ctr">
              <a:spcBef>
                <a:spcPts val="0"/>
              </a:spcBef>
              <a:spcAft>
                <a:spcPts val="0"/>
              </a:spcAft>
              <a:buNone/>
            </a:pPr>
            <a:r>
              <a:rPr lang="en" sz="3000">
                <a:latin typeface="Roboto"/>
                <a:ea typeface="Roboto"/>
                <a:cs typeface="Roboto"/>
                <a:sym typeface="Roboto"/>
              </a:rPr>
              <a:t>Any questions?</a:t>
            </a:r>
            <a:endParaRPr sz="30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